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embeddedFontLst>
    <p:embeddedFont>
      <p:font typeface="Lato" panose="020F0502020204030203" pitchFamily="34" charset="0"/>
      <p:regular r:id="rId33"/>
      <p:bold r:id="rId34"/>
      <p:italic r:id="rId35"/>
      <p:boldItalic r:id="rId36"/>
    </p:embeddedFont>
    <p:embeddedFont>
      <p:font typeface="Poppins" panose="00000500000000000000" pitchFamily="2" charset="0"/>
      <p:regular r:id="rId37"/>
      <p:bold r:id="rId38"/>
      <p:italic r:id="rId39"/>
      <p:boldItalic r:id="rId40"/>
    </p:embeddedFont>
    <p:embeddedFont>
      <p:font typeface="Poppins ExtraBold" panose="020B0502040204020203" pitchFamily="2" charset="0"/>
      <p:bold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14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20.pn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4E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986775" y="1888075"/>
            <a:ext cx="81027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50" b="0" i="0" u="none" strike="noStrike" cap="none">
                <a:solidFill>
                  <a:srgbClr val="880E4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CSS, Positioning,</a:t>
            </a:r>
            <a:br>
              <a:rPr lang="en-US" sz="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550" b="0" i="0" u="none" strike="noStrike" cap="none">
                <a:solidFill>
                  <a:srgbClr val="880E4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&amp; Layouting</a:t>
            </a:r>
            <a:endParaRPr sz="100"/>
          </a:p>
        </p:txBody>
      </p:sp>
      <p:sp>
        <p:nvSpPr>
          <p:cNvPr id="86" name="Google Shape;86;p13"/>
          <p:cNvSpPr txBox="1"/>
          <p:nvPr/>
        </p:nvSpPr>
        <p:spPr>
          <a:xfrm>
            <a:off x="704125" y="3840740"/>
            <a:ext cx="1066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AD1457"/>
                </a:solidFill>
                <a:latin typeface="Lato"/>
                <a:ea typeface="Lato"/>
                <a:cs typeface="Lato"/>
                <a:sym typeface="Lato"/>
              </a:rPr>
              <a:t>Dasar Pengembangan Tampilan Web Modern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4905375" y="4517285"/>
            <a:ext cx="2381400" cy="95400"/>
          </a:xfrm>
          <a:prstGeom prst="rect">
            <a:avLst/>
          </a:prstGeom>
          <a:solidFill>
            <a:srgbClr val="AD14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4EC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762000" y="1752600"/>
            <a:ext cx="50482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CSS (Cascading Style Sheets)</a:t>
            </a: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 adalah bahasa "makeup" untuk website. Kalau HTML itu rangkanya, CSS itu bajunya.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762000" y="2967632"/>
            <a:ext cx="50482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CSS bertugas memisahkan antara isi (HTML) dengan gaya visual. Jadi, kamu bisa ganti desain web tanpa perlu otak-atik isinya.</a:t>
            </a:r>
            <a:endParaRPr/>
          </a:p>
        </p:txBody>
      </p:sp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77025" y="1838325"/>
            <a:ext cx="44577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6677025" y="2476500"/>
            <a:ext cx="44577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Tanpa CSS, website akan terlihat seperti dokumen ketikan jadul. CSS memberikan "jiwa" dan keindahan pada setiap halamannya.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000125" y="571500"/>
            <a:ext cx="1095136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Apa itu CSS?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762000" y="571500"/>
            <a:ext cx="114300" cy="685800"/>
          </a:xfrm>
          <a:prstGeom prst="rect">
            <a:avLst/>
          </a:prstGeom>
          <a:solidFill>
            <a:srgbClr val="AD14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4EC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543050"/>
            <a:ext cx="3397150" cy="29104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7275" y="1543050"/>
            <a:ext cx="3397299" cy="29104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32700" y="1543050"/>
            <a:ext cx="3397150" cy="29104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7275" y="1838325"/>
            <a:ext cx="28066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1057275" y="2457450"/>
            <a:ext cx="294693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Visual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1057275" y="2943225"/>
            <a:ext cx="28066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Membuat website terlihat profesional dan menarik minat pengunjung.</a:t>
            </a:r>
            <a:endParaRPr/>
          </a:p>
        </p:txBody>
      </p:sp>
      <p:pic>
        <p:nvPicPr>
          <p:cNvPr id="110" name="Google Shape;110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2550" y="1838325"/>
            <a:ext cx="2806749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4692550" y="2457450"/>
            <a:ext cx="29470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Efisien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4692550" y="2943225"/>
            <a:ext cx="280674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Cukup ubah satu kode untuk mengganti warna di seluruh halaman web.</a:t>
            </a:r>
            <a:endParaRPr/>
          </a:p>
        </p:txBody>
      </p:sp>
      <p:pic>
        <p:nvPicPr>
          <p:cNvPr id="113" name="Google Shape;113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27975" y="1838325"/>
            <a:ext cx="28066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8327975" y="2457450"/>
            <a:ext cx="294693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Responsif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327975" y="2943225"/>
            <a:ext cx="28066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Memastikan tampilan web tetap rapi saat dibuka di HP maupun Laptop.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000125" y="571500"/>
            <a:ext cx="1095136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Kenapa Harus Pakai CSS?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762000" y="571500"/>
            <a:ext cx="114300" cy="685800"/>
          </a:xfrm>
          <a:prstGeom prst="rect">
            <a:avLst/>
          </a:prstGeom>
          <a:solidFill>
            <a:srgbClr val="AD14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4EC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583060"/>
            <a:ext cx="3397150" cy="2291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7275" y="2583060"/>
            <a:ext cx="3397299" cy="2291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32700" y="2583060"/>
            <a:ext cx="3397150" cy="2291357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762000" y="1752600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Ada tiga cara utama untuk menyambungkan gaya CSS ke dalam file HTML kamu: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1057275" y="2878335"/>
            <a:ext cx="294693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Inline CSS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1057275" y="3364110"/>
            <a:ext cx="28066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Ditulis langsung di dalam tag elemen HTML. Cepat tapi bikin kode berantakan.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4692550" y="2878335"/>
            <a:ext cx="29470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Internal CSS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4692550" y="3364110"/>
            <a:ext cx="280674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Ditaruh di bagian atas file HTML. Cocok untuk proyek kecil satu halaman.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327975" y="2878335"/>
            <a:ext cx="294693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External CSS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327975" y="3364110"/>
            <a:ext cx="28066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File dipisah sendiri (.css). Ini cara standar paling rapi dan profesional.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1000125" y="571500"/>
            <a:ext cx="1095136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3 Cara Memasang CSS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762000" y="571500"/>
            <a:ext cx="114300" cy="685800"/>
          </a:xfrm>
          <a:prstGeom prst="rect">
            <a:avLst/>
          </a:prstGeom>
          <a:solidFill>
            <a:srgbClr val="AD14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4EC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762000" y="1752600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Cara ini seperti menempelkan stiker langsung pada barang. Hanya berlaku untuk satu elemen itu saja.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1143000" y="3687960"/>
            <a:ext cx="10287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Praktis untuk perbaikan kilat.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1143000" y="4165996"/>
            <a:ext cx="10287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Sangat sulit dikelola jika website sudah memiliki banyak halaman.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1000125" y="571500"/>
            <a:ext cx="1095136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Mengenal Inline CSS</a:t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762000" y="571500"/>
            <a:ext cx="114300" cy="685800"/>
          </a:xfrm>
          <a:prstGeom prst="rect">
            <a:avLst/>
          </a:prstGeom>
          <a:solidFill>
            <a:srgbClr val="AD14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68796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4165996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4EC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762000" y="1752600"/>
            <a:ext cx="10668000" cy="68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Gaya dikumpulkan dalam tag &lt;/div&gt; di dalam file HTML. Semua elemen di halaman tersebut akan mengikuti aturan ini.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762000" y="4842271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Lebih rapi dibanding inline, tapi kurang efisien jika kamu memiliki ribuan file HTML.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1000125" y="571500"/>
            <a:ext cx="1095136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Mengenal Internal CSS</a:t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762000" y="571500"/>
            <a:ext cx="114300" cy="685800"/>
          </a:xfrm>
          <a:prstGeom prst="rect">
            <a:avLst/>
          </a:prstGeom>
          <a:solidFill>
            <a:srgbClr val="AD14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4EC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543050"/>
            <a:ext cx="5048250" cy="2462807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>
            <a:off x="762000" y="1752600"/>
            <a:ext cx="50482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Gaya disimpan di file terpisah (.css). HTML tinggal memanggil file tersebut lewat satu baris kode di bagian atas.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6677025" y="1838325"/>
            <a:ext cx="468058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Keuntungan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7058025" y="2266950"/>
            <a:ext cx="40767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File HTML jadi bersih dan ringan.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7058025" y="2744985"/>
            <a:ext cx="40767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Bisa mengatur ribuan halaman sekaligus.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7058025" y="3223021"/>
            <a:ext cx="40767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Mempermudah maintenance jangka panjang.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1000125" y="571500"/>
            <a:ext cx="1095136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External CSS (Cara Terbaik)</a:t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762000" y="571500"/>
            <a:ext cx="114300" cy="685800"/>
          </a:xfrm>
          <a:prstGeom prst="rect">
            <a:avLst/>
          </a:prstGeom>
          <a:solidFill>
            <a:srgbClr val="AD14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77025" y="22669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77025" y="274498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77025" y="3223021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876300" y="2860749"/>
            <a:ext cx="61878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15900" marR="215900" lvl="0" indent="0" algn="l" rtl="0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250" b="1" dirty="0">
                <a:solidFill>
                  <a:srgbClr val="4A14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&lt;link </a:t>
            </a:r>
            <a:r>
              <a:rPr lang="en-US" sz="1250" b="1" dirty="0" err="1">
                <a:solidFill>
                  <a:srgbClr val="4A14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rel</a:t>
            </a:r>
            <a:r>
              <a:rPr lang="en-US" sz="1250" b="1" dirty="0">
                <a:solidFill>
                  <a:srgbClr val="4A14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="stylesheet" </a:t>
            </a:r>
            <a:r>
              <a:rPr lang="en-US" sz="1250" b="1" dirty="0" err="1">
                <a:solidFill>
                  <a:srgbClr val="4A14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href</a:t>
            </a:r>
            <a:r>
              <a:rPr lang="en-US" sz="1250" b="1" dirty="0">
                <a:solidFill>
                  <a:srgbClr val="4A148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="style.css"&gt;</a:t>
            </a:r>
            <a:endParaRPr sz="3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4EC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4221360"/>
            <a:ext cx="3397150" cy="1621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7275" y="4221360"/>
            <a:ext cx="3397299" cy="1621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32700" y="4221360"/>
            <a:ext cx="3397150" cy="162103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762000" y="1752600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Menulis CSS itu sederhana: "Pilih targetnya, tentukan apanya, dan beri nilainya."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1057275" y="4516635"/>
            <a:ext cx="294693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Selector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1057275" y="5002410"/>
            <a:ext cx="28066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Target elemennya.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4692550" y="4516635"/>
            <a:ext cx="29470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Property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4692550" y="5002410"/>
            <a:ext cx="2806749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Jenis gayanya.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8327975" y="4516635"/>
            <a:ext cx="294693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Value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8327975" y="5002410"/>
            <a:ext cx="28066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Isi/nilai gayanya.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1000125" y="571500"/>
            <a:ext cx="1095136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Struktur Penulisan CSS</a:t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762000" y="571500"/>
            <a:ext cx="114300" cy="685800"/>
          </a:xfrm>
          <a:prstGeom prst="rect">
            <a:avLst/>
          </a:prstGeom>
          <a:solidFill>
            <a:srgbClr val="AD14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4E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583060"/>
            <a:ext cx="3397150" cy="1956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7275" y="2583060"/>
            <a:ext cx="3397299" cy="1956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32700" y="2583060"/>
            <a:ext cx="3397150" cy="1956196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/>
          <p:nvPr/>
        </p:nvSpPr>
        <p:spPr>
          <a:xfrm>
            <a:off x="762000" y="1752600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Cara kita memilih "target" di dalam tumpukan kode HTML: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1057275" y="2878335"/>
            <a:ext cx="294693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Element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1057275" y="3364110"/>
            <a:ext cx="28066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Pilih semua yang jenisnya sama (misal: semua p).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4692550" y="2878335"/>
            <a:ext cx="29470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Class (.)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4692550" y="3364110"/>
            <a:ext cx="2806749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Pilih elemen dengan label tertentu (bisa banyak elemen).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8327975" y="2878335"/>
            <a:ext cx="294693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ID (#)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8327975" y="3364110"/>
            <a:ext cx="28066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Pilih elemen unik (cuma boleh satu per halaman).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1000125" y="571500"/>
            <a:ext cx="1095136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Jenis-Jenis Selector</a:t>
            </a:r>
            <a:endParaRPr/>
          </a:p>
        </p:txBody>
      </p:sp>
      <p:sp>
        <p:nvSpPr>
          <p:cNvPr id="206" name="Google Shape;206;p21"/>
          <p:cNvSpPr/>
          <p:nvPr/>
        </p:nvSpPr>
        <p:spPr>
          <a:xfrm>
            <a:off x="762000" y="571500"/>
            <a:ext cx="114300" cy="685800"/>
          </a:xfrm>
          <a:prstGeom prst="rect">
            <a:avLst/>
          </a:prstGeom>
          <a:solidFill>
            <a:srgbClr val="AD14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4EC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2"/>
          <p:cNvSpPr txBox="1"/>
          <p:nvPr/>
        </p:nvSpPr>
        <p:spPr>
          <a:xfrm>
            <a:off x="762000" y="3733800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Selector memastikan gaya kamu jatuh ke tempat yang tepat, bukan asal-asalan ke semua elemen.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1000125" y="571500"/>
            <a:ext cx="1095136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Contoh Selector</a:t>
            </a:r>
            <a:endParaRPr/>
          </a:p>
        </p:txBody>
      </p:sp>
      <p:sp>
        <p:nvSpPr>
          <p:cNvPr id="214" name="Google Shape;214;p22"/>
          <p:cNvSpPr/>
          <p:nvPr/>
        </p:nvSpPr>
        <p:spPr>
          <a:xfrm>
            <a:off x="762000" y="571500"/>
            <a:ext cx="114300" cy="685800"/>
          </a:xfrm>
          <a:prstGeom prst="rect">
            <a:avLst/>
          </a:prstGeom>
          <a:solidFill>
            <a:srgbClr val="AD14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4EC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1043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543050"/>
            <a:ext cx="5048250" cy="301109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"/>
          <p:cNvSpPr txBox="1"/>
          <p:nvPr/>
        </p:nvSpPr>
        <p:spPr>
          <a:xfrm>
            <a:off x="762000" y="1752600"/>
            <a:ext cx="5048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Di mata browser, semua elemen itu adalah </a:t>
            </a:r>
            <a:r>
              <a:rPr lang="en-US" sz="1650" b="1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KOTAK</a:t>
            </a: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. Bayangkan kado yang berlapis-lapis: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1143000" y="2632471"/>
            <a:ext cx="46672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Content:</a:t>
            </a: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 Barangnya (Isi teks/gambar).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1143000" y="3110507"/>
            <a:ext cx="46672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Padding:</a:t>
            </a: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 Jarak isi ke dinding kotak.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1143000" y="3588543"/>
            <a:ext cx="46672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Border:</a:t>
            </a: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 Kardusnya (Garis tepi kotak).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1143000" y="4066579"/>
            <a:ext cx="46672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Margin:</a:t>
            </a: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 Jarak antar kado (Jarak luar).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1000125" y="571500"/>
            <a:ext cx="1095136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Konsep Box Model</a:t>
            </a:r>
            <a:endParaRPr/>
          </a:p>
        </p:txBody>
      </p:sp>
      <p:sp>
        <p:nvSpPr>
          <p:cNvPr id="227" name="Google Shape;227;p23"/>
          <p:cNvSpPr/>
          <p:nvPr/>
        </p:nvSpPr>
        <p:spPr>
          <a:xfrm>
            <a:off x="762000" y="571500"/>
            <a:ext cx="114300" cy="685800"/>
          </a:xfrm>
          <a:prstGeom prst="rect">
            <a:avLst/>
          </a:prstGeom>
          <a:solidFill>
            <a:srgbClr val="AD14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63247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11050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58854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06657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43825" y="2067525"/>
            <a:ext cx="2324100" cy="196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4EC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4"/>
          <p:cNvSpPr/>
          <p:nvPr/>
        </p:nvSpPr>
        <p:spPr>
          <a:xfrm>
            <a:off x="4905375" y="2253555"/>
            <a:ext cx="2381250" cy="95250"/>
          </a:xfrm>
          <a:prstGeom prst="rect">
            <a:avLst/>
          </a:prstGeom>
          <a:solidFill>
            <a:srgbClr val="AD14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4"/>
          <p:cNvSpPr txBox="1"/>
          <p:nvPr/>
        </p:nvSpPr>
        <p:spPr>
          <a:xfrm>
            <a:off x="495300" y="2634555"/>
            <a:ext cx="112014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POSITIONING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762000" y="4196655"/>
            <a:ext cx="10668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AD1457"/>
                </a:solidFill>
                <a:latin typeface="Lato"/>
                <a:ea typeface="Lato"/>
                <a:cs typeface="Lato"/>
                <a:sym typeface="Lato"/>
              </a:rPr>
              <a:t>Mengatur Tata Letak Koordinat Elemen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4EC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918221"/>
            <a:ext cx="3397150" cy="1621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7275" y="2918221"/>
            <a:ext cx="3397299" cy="1621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32700" y="2918221"/>
            <a:ext cx="3397150" cy="1621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4777382"/>
            <a:ext cx="3397150" cy="1621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97275" y="4777382"/>
            <a:ext cx="3397299" cy="162103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5"/>
          <p:cNvSpPr txBox="1"/>
          <p:nvPr/>
        </p:nvSpPr>
        <p:spPr>
          <a:xfrm>
            <a:off x="762000" y="1752600"/>
            <a:ext cx="10668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Positioning adalah teknik untuk memaksa elemen pindah dari posisi aslinya. Kamu bisa bikin elemen melayang atau nempel permanen di layar.</a:t>
            </a:r>
            <a:endParaRPr/>
          </a:p>
        </p:txBody>
      </p:sp>
      <p:sp>
        <p:nvSpPr>
          <p:cNvPr id="252" name="Google Shape;252;p25"/>
          <p:cNvSpPr txBox="1"/>
          <p:nvPr/>
        </p:nvSpPr>
        <p:spPr>
          <a:xfrm>
            <a:off x="1057275" y="3213496"/>
            <a:ext cx="294693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Static</a:t>
            </a:r>
            <a:endParaRPr/>
          </a:p>
        </p:txBody>
      </p:sp>
      <p:sp>
        <p:nvSpPr>
          <p:cNvPr id="253" name="Google Shape;253;p25"/>
          <p:cNvSpPr txBox="1"/>
          <p:nvPr/>
        </p:nvSpPr>
        <p:spPr>
          <a:xfrm>
            <a:off x="1057275" y="3699271"/>
            <a:ext cx="28066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Ikut barisan (Default).</a:t>
            </a:r>
            <a:endParaRPr/>
          </a:p>
        </p:txBody>
      </p:sp>
      <p:sp>
        <p:nvSpPr>
          <p:cNvPr id="254" name="Google Shape;254;p25"/>
          <p:cNvSpPr txBox="1"/>
          <p:nvPr/>
        </p:nvSpPr>
        <p:spPr>
          <a:xfrm>
            <a:off x="4692550" y="3213496"/>
            <a:ext cx="29470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Relative</a:t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4692550" y="3699271"/>
            <a:ext cx="2806749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Geser dari posisi asli.</a:t>
            </a:r>
            <a:endParaRPr/>
          </a:p>
        </p:txBody>
      </p:sp>
      <p:sp>
        <p:nvSpPr>
          <p:cNvPr id="256" name="Google Shape;256;p25"/>
          <p:cNvSpPr txBox="1"/>
          <p:nvPr/>
        </p:nvSpPr>
        <p:spPr>
          <a:xfrm>
            <a:off x="8327975" y="3213496"/>
            <a:ext cx="294693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Absolute</a:t>
            </a:r>
            <a:endParaRPr/>
          </a:p>
        </p:txBody>
      </p:sp>
      <p:sp>
        <p:nvSpPr>
          <p:cNvPr id="257" name="Google Shape;257;p25"/>
          <p:cNvSpPr txBox="1"/>
          <p:nvPr/>
        </p:nvSpPr>
        <p:spPr>
          <a:xfrm>
            <a:off x="8327975" y="3699271"/>
            <a:ext cx="28066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Melayang bebas.</a:t>
            </a: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1057275" y="5072657"/>
            <a:ext cx="294693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Fixed</a:t>
            </a:r>
            <a:endParaRPr/>
          </a:p>
        </p:txBody>
      </p:sp>
      <p:sp>
        <p:nvSpPr>
          <p:cNvPr id="259" name="Google Shape;259;p25"/>
          <p:cNvSpPr txBox="1"/>
          <p:nvPr/>
        </p:nvSpPr>
        <p:spPr>
          <a:xfrm>
            <a:off x="1057275" y="5558432"/>
            <a:ext cx="28066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Nempel di layar.</a:t>
            </a:r>
            <a:endParaRPr/>
          </a:p>
        </p:txBody>
      </p:sp>
      <p:sp>
        <p:nvSpPr>
          <p:cNvPr id="260" name="Google Shape;260;p25"/>
          <p:cNvSpPr txBox="1"/>
          <p:nvPr/>
        </p:nvSpPr>
        <p:spPr>
          <a:xfrm>
            <a:off x="4692550" y="5072657"/>
            <a:ext cx="29470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Sticky</a:t>
            </a:r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4692550" y="5558432"/>
            <a:ext cx="2806749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Nyangkut saat discroll.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1000125" y="571500"/>
            <a:ext cx="1095136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Apa itu Positioning?</a:t>
            </a:r>
            <a:endParaRPr/>
          </a:p>
        </p:txBody>
      </p:sp>
      <p:sp>
        <p:nvSpPr>
          <p:cNvPr id="263" name="Google Shape;263;p25"/>
          <p:cNvSpPr/>
          <p:nvPr/>
        </p:nvSpPr>
        <p:spPr>
          <a:xfrm>
            <a:off x="762000" y="571500"/>
            <a:ext cx="114300" cy="685800"/>
          </a:xfrm>
          <a:prstGeom prst="rect">
            <a:avLst/>
          </a:prstGeom>
          <a:solidFill>
            <a:srgbClr val="AD14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4EC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543050"/>
            <a:ext cx="5048250" cy="3051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543050"/>
            <a:ext cx="5048250" cy="3051571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6"/>
          <p:cNvSpPr txBox="1"/>
          <p:nvPr/>
        </p:nvSpPr>
        <p:spPr>
          <a:xfrm>
            <a:off x="1057275" y="1838325"/>
            <a:ext cx="468058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Static (Default)</a:t>
            </a:r>
            <a:endParaRPr/>
          </a:p>
        </p:txBody>
      </p:sp>
      <p:sp>
        <p:nvSpPr>
          <p:cNvPr id="272" name="Google Shape;272;p26"/>
          <p:cNvSpPr txBox="1"/>
          <p:nvPr/>
        </p:nvSpPr>
        <p:spPr>
          <a:xfrm>
            <a:off x="1057275" y="2324100"/>
            <a:ext cx="44577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Elemen antri dengan sabar sesuai urutan kode. Tidak bisa dipindah dengan top/left.</a:t>
            </a:r>
            <a:endParaRPr/>
          </a:p>
        </p:txBody>
      </p:sp>
      <p:sp>
        <p:nvSpPr>
          <p:cNvPr id="273" name="Google Shape;273;p26"/>
          <p:cNvSpPr txBox="1"/>
          <p:nvPr/>
        </p:nvSpPr>
        <p:spPr>
          <a:xfrm>
            <a:off x="6677025" y="1838325"/>
            <a:ext cx="468058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Relative</a:t>
            </a:r>
            <a:endParaRPr/>
          </a:p>
        </p:txBody>
      </p:sp>
      <p:sp>
        <p:nvSpPr>
          <p:cNvPr id="274" name="Google Shape;274;p26"/>
          <p:cNvSpPr txBox="1"/>
          <p:nvPr/>
        </p:nvSpPr>
        <p:spPr>
          <a:xfrm>
            <a:off x="6677025" y="2324100"/>
            <a:ext cx="44577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Elemen bisa digeser dari posisi aslinya tanpa mengganggu "antrian" elemen lain.</a:t>
            </a:r>
            <a:endParaRPr/>
          </a:p>
        </p:txBody>
      </p:sp>
      <p:sp>
        <p:nvSpPr>
          <p:cNvPr id="275" name="Google Shape;275;p26"/>
          <p:cNvSpPr txBox="1"/>
          <p:nvPr/>
        </p:nvSpPr>
        <p:spPr>
          <a:xfrm>
            <a:off x="1000125" y="571500"/>
            <a:ext cx="1095136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Static vs Relative</a:t>
            </a:r>
            <a:endParaRPr/>
          </a:p>
        </p:txBody>
      </p:sp>
      <p:sp>
        <p:nvSpPr>
          <p:cNvPr id="276" name="Google Shape;276;p26"/>
          <p:cNvSpPr/>
          <p:nvPr/>
        </p:nvSpPr>
        <p:spPr>
          <a:xfrm>
            <a:off x="762000" y="571500"/>
            <a:ext cx="114300" cy="685800"/>
          </a:xfrm>
          <a:prstGeom prst="rect">
            <a:avLst/>
          </a:prstGeom>
          <a:solidFill>
            <a:srgbClr val="AD14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4EC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7"/>
          <p:cNvSpPr txBox="1"/>
          <p:nvPr/>
        </p:nvSpPr>
        <p:spPr>
          <a:xfrm>
            <a:off x="762000" y="1752600"/>
            <a:ext cx="5048250" cy="1024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Elemen ini beneran "keluar" dari barisan antrian. Dia bakal melayang bebas relatif terhadap induknya yang punya posisi relative.</a:t>
            </a:r>
            <a:endParaRPr/>
          </a:p>
        </p:txBody>
      </p:sp>
      <p:sp>
        <p:nvSpPr>
          <p:cNvPr id="283" name="Google Shape;283;p27"/>
          <p:cNvSpPr txBox="1"/>
          <p:nvPr/>
        </p:nvSpPr>
        <p:spPr>
          <a:xfrm>
            <a:off x="762000" y="2986682"/>
            <a:ext cx="5048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Sering digunakan untuk meletakkan icon notifikasi atau tulisan di atas gambar.</a:t>
            </a:r>
            <a:endParaRPr/>
          </a:p>
        </p:txBody>
      </p:sp>
      <p:sp>
        <p:nvSpPr>
          <p:cNvPr id="284" name="Google Shape;284;p27"/>
          <p:cNvSpPr txBox="1"/>
          <p:nvPr/>
        </p:nvSpPr>
        <p:spPr>
          <a:xfrm>
            <a:off x="1000125" y="571500"/>
            <a:ext cx="1095136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Position Absolute</a:t>
            </a:r>
            <a:endParaRPr/>
          </a:p>
        </p:txBody>
      </p:sp>
      <p:sp>
        <p:nvSpPr>
          <p:cNvPr id="285" name="Google Shape;285;p27"/>
          <p:cNvSpPr/>
          <p:nvPr/>
        </p:nvSpPr>
        <p:spPr>
          <a:xfrm>
            <a:off x="762000" y="571500"/>
            <a:ext cx="114300" cy="685800"/>
          </a:xfrm>
          <a:prstGeom prst="rect">
            <a:avLst/>
          </a:prstGeom>
          <a:solidFill>
            <a:srgbClr val="AD14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4EC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543050"/>
            <a:ext cx="5048250" cy="1956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543050"/>
            <a:ext cx="5048250" cy="1956196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8"/>
          <p:cNvSpPr txBox="1"/>
          <p:nvPr/>
        </p:nvSpPr>
        <p:spPr>
          <a:xfrm>
            <a:off x="762000" y="3784996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Keduanya membantu elemen penting agar selalu terlihat oleh pengunjung.</a:t>
            </a:r>
            <a:endParaRPr/>
          </a:p>
        </p:txBody>
      </p:sp>
      <p:sp>
        <p:nvSpPr>
          <p:cNvPr id="294" name="Google Shape;294;p28"/>
          <p:cNvSpPr txBox="1"/>
          <p:nvPr/>
        </p:nvSpPr>
        <p:spPr>
          <a:xfrm>
            <a:off x="1057275" y="1838325"/>
            <a:ext cx="468058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Fixed</a:t>
            </a:r>
            <a:endParaRPr/>
          </a:p>
        </p:txBody>
      </p:sp>
      <p:sp>
        <p:nvSpPr>
          <p:cNvPr id="295" name="Google Shape;295;p28"/>
          <p:cNvSpPr txBox="1"/>
          <p:nvPr/>
        </p:nvSpPr>
        <p:spPr>
          <a:xfrm>
            <a:off x="1057275" y="2324100"/>
            <a:ext cx="44577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Menempel di layar monitor meskipun discroll. Contoh: Menu navigasi atas.</a:t>
            </a:r>
            <a:endParaRPr/>
          </a:p>
        </p:txBody>
      </p:sp>
      <p:sp>
        <p:nvSpPr>
          <p:cNvPr id="296" name="Google Shape;296;p28"/>
          <p:cNvSpPr txBox="1"/>
          <p:nvPr/>
        </p:nvSpPr>
        <p:spPr>
          <a:xfrm>
            <a:off x="6677025" y="1838325"/>
            <a:ext cx="468058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Sticky</a:t>
            </a:r>
            <a:endParaRPr/>
          </a:p>
        </p:txBody>
      </p:sp>
      <p:sp>
        <p:nvSpPr>
          <p:cNvPr id="297" name="Google Shape;297;p28"/>
          <p:cNvSpPr txBox="1"/>
          <p:nvPr/>
        </p:nvSpPr>
        <p:spPr>
          <a:xfrm>
            <a:off x="6677025" y="2324100"/>
            <a:ext cx="44577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Awalnya ikut discroll, tapi pas nyentuh batas atas layar, dia bakal nyangkut.</a:t>
            </a:r>
            <a:endParaRPr/>
          </a:p>
        </p:txBody>
      </p:sp>
      <p:sp>
        <p:nvSpPr>
          <p:cNvPr id="298" name="Google Shape;298;p28"/>
          <p:cNvSpPr txBox="1"/>
          <p:nvPr/>
        </p:nvSpPr>
        <p:spPr>
          <a:xfrm>
            <a:off x="1000125" y="571500"/>
            <a:ext cx="1095136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Fixed &amp; Sticky</a:t>
            </a:r>
            <a:endParaRPr/>
          </a:p>
        </p:txBody>
      </p:sp>
      <p:sp>
        <p:nvSpPr>
          <p:cNvPr id="299" name="Google Shape;299;p28"/>
          <p:cNvSpPr/>
          <p:nvPr/>
        </p:nvSpPr>
        <p:spPr>
          <a:xfrm>
            <a:off x="762000" y="571500"/>
            <a:ext cx="114300" cy="685800"/>
          </a:xfrm>
          <a:prstGeom prst="rect">
            <a:avLst/>
          </a:prstGeom>
          <a:solidFill>
            <a:srgbClr val="AD14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4EC"/>
        </a:solid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602110"/>
            <a:ext cx="3397150" cy="1621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7275" y="2602110"/>
            <a:ext cx="3397299" cy="1621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32700" y="2602110"/>
            <a:ext cx="3397150" cy="1621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4461271"/>
            <a:ext cx="3397150" cy="162103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 txBox="1"/>
          <p:nvPr/>
        </p:nvSpPr>
        <p:spPr>
          <a:xfrm>
            <a:off x="762000" y="1752600"/>
            <a:ext cx="10668000" cy="354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Setelah memberikan perintah position, kamu bisa menggunakan koordinat ini untuk memindahkannya:</a:t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1057275" y="2897385"/>
            <a:ext cx="294693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Top</a:t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1057275" y="3383160"/>
            <a:ext cx="28066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Jarak dari atas.</a:t>
            </a:r>
            <a:endParaRPr/>
          </a:p>
        </p:txBody>
      </p:sp>
      <p:sp>
        <p:nvSpPr>
          <p:cNvPr id="312" name="Google Shape;312;p29"/>
          <p:cNvSpPr txBox="1"/>
          <p:nvPr/>
        </p:nvSpPr>
        <p:spPr>
          <a:xfrm>
            <a:off x="4692550" y="2897385"/>
            <a:ext cx="29470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Left</a:t>
            </a:r>
            <a:endParaRPr/>
          </a:p>
        </p:txBody>
      </p:sp>
      <p:sp>
        <p:nvSpPr>
          <p:cNvPr id="313" name="Google Shape;313;p29"/>
          <p:cNvSpPr txBox="1"/>
          <p:nvPr/>
        </p:nvSpPr>
        <p:spPr>
          <a:xfrm>
            <a:off x="4692550" y="3383160"/>
            <a:ext cx="2806749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Jarak dari kiri.</a:t>
            </a:r>
            <a:endParaRPr/>
          </a:p>
        </p:txBody>
      </p:sp>
      <p:sp>
        <p:nvSpPr>
          <p:cNvPr id="314" name="Google Shape;314;p29"/>
          <p:cNvSpPr txBox="1"/>
          <p:nvPr/>
        </p:nvSpPr>
        <p:spPr>
          <a:xfrm>
            <a:off x="8327975" y="2897385"/>
            <a:ext cx="294693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Right</a:t>
            </a:r>
            <a:endParaRPr/>
          </a:p>
        </p:txBody>
      </p:sp>
      <p:sp>
        <p:nvSpPr>
          <p:cNvPr id="315" name="Google Shape;315;p29"/>
          <p:cNvSpPr txBox="1"/>
          <p:nvPr/>
        </p:nvSpPr>
        <p:spPr>
          <a:xfrm>
            <a:off x="8327975" y="3383160"/>
            <a:ext cx="28066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Jarak dari kanan.</a:t>
            </a:r>
            <a:endParaRPr/>
          </a:p>
        </p:txBody>
      </p:sp>
      <p:sp>
        <p:nvSpPr>
          <p:cNvPr id="316" name="Google Shape;316;p29"/>
          <p:cNvSpPr txBox="1"/>
          <p:nvPr/>
        </p:nvSpPr>
        <p:spPr>
          <a:xfrm>
            <a:off x="1057275" y="4756546"/>
            <a:ext cx="294693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Bottom</a:t>
            </a:r>
            <a:endParaRPr/>
          </a:p>
        </p:txBody>
      </p:sp>
      <p:sp>
        <p:nvSpPr>
          <p:cNvPr id="317" name="Google Shape;317;p29"/>
          <p:cNvSpPr txBox="1"/>
          <p:nvPr/>
        </p:nvSpPr>
        <p:spPr>
          <a:xfrm>
            <a:off x="1057275" y="5242321"/>
            <a:ext cx="28066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Jarak dari bawah.</a:t>
            </a:r>
            <a:endParaRPr/>
          </a:p>
        </p:txBody>
      </p:sp>
      <p:sp>
        <p:nvSpPr>
          <p:cNvPr id="318" name="Google Shape;318;p29"/>
          <p:cNvSpPr txBox="1"/>
          <p:nvPr/>
        </p:nvSpPr>
        <p:spPr>
          <a:xfrm>
            <a:off x="1000125" y="571500"/>
            <a:ext cx="1095136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Alat Bantu Posisi</a:t>
            </a:r>
            <a:endParaRPr/>
          </a:p>
        </p:txBody>
      </p:sp>
      <p:sp>
        <p:nvSpPr>
          <p:cNvPr id="319" name="Google Shape;319;p29"/>
          <p:cNvSpPr/>
          <p:nvPr/>
        </p:nvSpPr>
        <p:spPr>
          <a:xfrm>
            <a:off x="762000" y="571500"/>
            <a:ext cx="114300" cy="685800"/>
          </a:xfrm>
          <a:prstGeom prst="rect">
            <a:avLst/>
          </a:prstGeom>
          <a:solidFill>
            <a:srgbClr val="AD14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4EC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0"/>
          <p:cNvSpPr/>
          <p:nvPr/>
        </p:nvSpPr>
        <p:spPr>
          <a:xfrm>
            <a:off x="4905375" y="2253555"/>
            <a:ext cx="2381250" cy="95250"/>
          </a:xfrm>
          <a:prstGeom prst="rect">
            <a:avLst/>
          </a:prstGeom>
          <a:solidFill>
            <a:srgbClr val="AD14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0"/>
          <p:cNvSpPr txBox="1"/>
          <p:nvPr/>
        </p:nvSpPr>
        <p:spPr>
          <a:xfrm>
            <a:off x="495300" y="2634555"/>
            <a:ext cx="112014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LAYOUTING</a:t>
            </a:r>
            <a:endParaRPr/>
          </a:p>
        </p:txBody>
      </p:sp>
      <p:sp>
        <p:nvSpPr>
          <p:cNvPr id="327" name="Google Shape;327;p30"/>
          <p:cNvSpPr txBox="1"/>
          <p:nvPr/>
        </p:nvSpPr>
        <p:spPr>
          <a:xfrm>
            <a:off x="762000" y="4196655"/>
            <a:ext cx="10668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AD1457"/>
                </a:solidFill>
                <a:latin typeface="Lato"/>
                <a:ea typeface="Lato"/>
                <a:cs typeface="Lato"/>
                <a:sym typeface="Lato"/>
              </a:rPr>
              <a:t>Membangun Struktur Kerangka Halaman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4EC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583060"/>
            <a:ext cx="10668000" cy="1679971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1"/>
          <p:cNvSpPr txBox="1"/>
          <p:nvPr/>
        </p:nvSpPr>
        <p:spPr>
          <a:xfrm>
            <a:off x="762000" y="1752600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Layouting adalah seni menyusun kotak-kotak di website supaya strukturnya rapi (Header, Konten, Sidebar, Footer).</a:t>
            </a:r>
            <a:endParaRPr/>
          </a:p>
        </p:txBody>
      </p:sp>
      <p:sp>
        <p:nvSpPr>
          <p:cNvPr id="335" name="Google Shape;335;p31"/>
          <p:cNvSpPr txBox="1"/>
          <p:nvPr/>
        </p:nvSpPr>
        <p:spPr>
          <a:xfrm>
            <a:off x="1057275" y="3087885"/>
            <a:ext cx="100774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Dulu kita pakai </a:t>
            </a:r>
            <a:r>
              <a:rPr lang="en-US" sz="1650" b="1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Float</a:t>
            </a: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, tapi sekarang sudah zamannya </a:t>
            </a:r>
            <a:r>
              <a:rPr lang="en-US" sz="1650" b="1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Flexbox</a:t>
            </a: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 (1 Dimensi) dan </a:t>
            </a:r>
            <a:r>
              <a:rPr lang="en-US" sz="1650" b="1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CSS Grid</a:t>
            </a: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 (2 Dimensi) yang jauh lebih sakti dan fleksibel.</a:t>
            </a:r>
            <a:endParaRPr/>
          </a:p>
        </p:txBody>
      </p:sp>
      <p:sp>
        <p:nvSpPr>
          <p:cNvPr id="336" name="Google Shape;336;p31"/>
          <p:cNvSpPr txBox="1"/>
          <p:nvPr/>
        </p:nvSpPr>
        <p:spPr>
          <a:xfrm>
            <a:off x="1000125" y="571500"/>
            <a:ext cx="1095136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Apa itu Layout?</a:t>
            </a:r>
            <a:endParaRPr/>
          </a:p>
        </p:txBody>
      </p:sp>
      <p:sp>
        <p:nvSpPr>
          <p:cNvPr id="337" name="Google Shape;337;p31"/>
          <p:cNvSpPr/>
          <p:nvPr/>
        </p:nvSpPr>
        <p:spPr>
          <a:xfrm>
            <a:off x="762000" y="571500"/>
            <a:ext cx="114300" cy="685800"/>
          </a:xfrm>
          <a:prstGeom prst="rect">
            <a:avLst/>
          </a:prstGeom>
          <a:solidFill>
            <a:srgbClr val="AD14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4EC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6762750" y="1695450"/>
            <a:ext cx="4667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Float:</a:t>
            </a: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 Bikin elemen berjejer ke samping (kayak teks yang membungkus gambar).</a:t>
            </a:r>
            <a:endParaRPr/>
          </a:p>
        </p:txBody>
      </p:sp>
      <p:sp>
        <p:nvSpPr>
          <p:cNvPr id="344" name="Google Shape;344;p32"/>
          <p:cNvSpPr txBox="1"/>
          <p:nvPr/>
        </p:nvSpPr>
        <p:spPr>
          <a:xfrm>
            <a:off x="6762750" y="2508646"/>
            <a:ext cx="4667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Clear:</a:t>
            </a: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 Bilang "Cukup!" biar elemen di bawahnya nggak berantakan.</a:t>
            </a:r>
            <a:endParaRPr/>
          </a:p>
        </p:txBody>
      </p:sp>
      <p:sp>
        <p:nvSpPr>
          <p:cNvPr id="345" name="Google Shape;345;p32"/>
          <p:cNvSpPr txBox="1"/>
          <p:nvPr/>
        </p:nvSpPr>
        <p:spPr>
          <a:xfrm>
            <a:off x="1000125" y="571500"/>
            <a:ext cx="1095136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Float &amp; Clear</a:t>
            </a:r>
            <a:endParaRPr/>
          </a:p>
        </p:txBody>
      </p:sp>
      <p:sp>
        <p:nvSpPr>
          <p:cNvPr id="346" name="Google Shape;346;p32"/>
          <p:cNvSpPr/>
          <p:nvPr/>
        </p:nvSpPr>
        <p:spPr>
          <a:xfrm>
            <a:off x="762000" y="571500"/>
            <a:ext cx="114300" cy="685800"/>
          </a:xfrm>
          <a:prstGeom prst="rect">
            <a:avLst/>
          </a:prstGeom>
          <a:solidFill>
            <a:srgbClr val="AD14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7" name="Google Shape;347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6954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508646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4EC"/>
        </a:solidFill>
        <a:effectLst/>
      </p:bgPr>
    </p:bg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3"/>
          <p:cNvSpPr txBox="1"/>
          <p:nvPr/>
        </p:nvSpPr>
        <p:spPr>
          <a:xfrm>
            <a:off x="762000" y="1752600"/>
            <a:ext cx="5048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Sangat jago menyusun barang dalam satu barisan (Row) atau satu tumpukan (Column).</a:t>
            </a:r>
            <a:endParaRPr/>
          </a:p>
        </p:txBody>
      </p:sp>
      <p:pic>
        <p:nvPicPr>
          <p:cNvPr id="355" name="Google Shape;355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77025" y="1838325"/>
            <a:ext cx="44577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3"/>
          <p:cNvSpPr txBox="1"/>
          <p:nvPr/>
        </p:nvSpPr>
        <p:spPr>
          <a:xfrm>
            <a:off x="6677025" y="2476500"/>
            <a:ext cx="44577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Memudahkan pengaturan jarak antar tombol atau icon secara otomatis tanpa harus hitung manual.</a:t>
            </a:r>
            <a:endParaRPr/>
          </a:p>
        </p:txBody>
      </p:sp>
      <p:sp>
        <p:nvSpPr>
          <p:cNvPr id="357" name="Google Shape;357;p33"/>
          <p:cNvSpPr txBox="1"/>
          <p:nvPr/>
        </p:nvSpPr>
        <p:spPr>
          <a:xfrm>
            <a:off x="1000125" y="571500"/>
            <a:ext cx="1095136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Flexbox (Sistem 1 Dimensi)</a:t>
            </a:r>
            <a:endParaRPr/>
          </a:p>
        </p:txBody>
      </p:sp>
      <p:sp>
        <p:nvSpPr>
          <p:cNvPr id="358" name="Google Shape;358;p33"/>
          <p:cNvSpPr/>
          <p:nvPr/>
        </p:nvSpPr>
        <p:spPr>
          <a:xfrm>
            <a:off x="762000" y="571500"/>
            <a:ext cx="114300" cy="685800"/>
          </a:xfrm>
          <a:prstGeom prst="rect">
            <a:avLst/>
          </a:prstGeom>
          <a:solidFill>
            <a:srgbClr val="AD14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4EC"/>
        </a:solidFill>
        <a:effectLst/>
      </p:bgPr>
    </p:bg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4"/>
          <p:cNvSpPr txBox="1"/>
          <p:nvPr/>
        </p:nvSpPr>
        <p:spPr>
          <a:xfrm>
            <a:off x="762000" y="3733800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Cara paling cepat dan populer untuk membuat elemen berada tepat di tengah layar.</a:t>
            </a:r>
            <a:endParaRPr/>
          </a:p>
        </p:txBody>
      </p:sp>
      <p:sp>
        <p:nvSpPr>
          <p:cNvPr id="365" name="Google Shape;365;p34"/>
          <p:cNvSpPr txBox="1"/>
          <p:nvPr/>
        </p:nvSpPr>
        <p:spPr>
          <a:xfrm>
            <a:off x="1000125" y="571500"/>
            <a:ext cx="1095136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Tengahin Barang dengan Flex</a:t>
            </a:r>
            <a:endParaRPr/>
          </a:p>
        </p:txBody>
      </p:sp>
      <p:sp>
        <p:nvSpPr>
          <p:cNvPr id="366" name="Google Shape;366;p34"/>
          <p:cNvSpPr/>
          <p:nvPr/>
        </p:nvSpPr>
        <p:spPr>
          <a:xfrm>
            <a:off x="762000" y="571500"/>
            <a:ext cx="114300" cy="685800"/>
          </a:xfrm>
          <a:prstGeom prst="rect">
            <a:avLst/>
          </a:prstGeom>
          <a:solidFill>
            <a:srgbClr val="AD14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4EC"/>
        </a:solidFill>
        <a:effectLst/>
      </p:bgPr>
    </p:bg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543050"/>
            <a:ext cx="5048250" cy="1956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543050"/>
            <a:ext cx="5048250" cy="1956196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5"/>
          <p:cNvSpPr txBox="1"/>
          <p:nvPr/>
        </p:nvSpPr>
        <p:spPr>
          <a:xfrm>
            <a:off x="1057275" y="1838325"/>
            <a:ext cx="468058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Flex-Direction: Row</a:t>
            </a:r>
            <a:endParaRPr/>
          </a:p>
        </p:txBody>
      </p:sp>
      <p:sp>
        <p:nvSpPr>
          <p:cNvPr id="375" name="Google Shape;375;p35"/>
          <p:cNvSpPr txBox="1"/>
          <p:nvPr/>
        </p:nvSpPr>
        <p:spPr>
          <a:xfrm>
            <a:off x="1057275" y="2324100"/>
            <a:ext cx="44577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Elemen berjejer ke samping (Ini settingan defaultnya).</a:t>
            </a:r>
            <a:endParaRPr/>
          </a:p>
        </p:txBody>
      </p:sp>
      <p:sp>
        <p:nvSpPr>
          <p:cNvPr id="376" name="Google Shape;376;p35"/>
          <p:cNvSpPr txBox="1"/>
          <p:nvPr/>
        </p:nvSpPr>
        <p:spPr>
          <a:xfrm>
            <a:off x="6677025" y="1838325"/>
            <a:ext cx="468058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Flex-Direction: Column</a:t>
            </a:r>
            <a:endParaRPr/>
          </a:p>
        </p:txBody>
      </p:sp>
      <p:sp>
        <p:nvSpPr>
          <p:cNvPr id="377" name="Google Shape;377;p35"/>
          <p:cNvSpPr txBox="1"/>
          <p:nvPr/>
        </p:nvSpPr>
        <p:spPr>
          <a:xfrm>
            <a:off x="6677025" y="2324100"/>
            <a:ext cx="44577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Elemen menumpuk ke bawah seperti tumpukan buku.</a:t>
            </a:r>
            <a:endParaRPr/>
          </a:p>
        </p:txBody>
      </p:sp>
      <p:sp>
        <p:nvSpPr>
          <p:cNvPr id="378" name="Google Shape;378;p35"/>
          <p:cNvSpPr txBox="1"/>
          <p:nvPr/>
        </p:nvSpPr>
        <p:spPr>
          <a:xfrm>
            <a:off x="1000125" y="571500"/>
            <a:ext cx="1095136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Arah Barisan Flexbox</a:t>
            </a:r>
            <a:endParaRPr/>
          </a:p>
        </p:txBody>
      </p:sp>
      <p:sp>
        <p:nvSpPr>
          <p:cNvPr id="379" name="Google Shape;379;p35"/>
          <p:cNvSpPr/>
          <p:nvPr/>
        </p:nvSpPr>
        <p:spPr>
          <a:xfrm>
            <a:off x="762000" y="571500"/>
            <a:ext cx="114300" cy="685800"/>
          </a:xfrm>
          <a:prstGeom prst="rect">
            <a:avLst/>
          </a:prstGeom>
          <a:solidFill>
            <a:srgbClr val="AD14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4EC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543050"/>
            <a:ext cx="3397150" cy="1956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7275" y="1543050"/>
            <a:ext cx="3397299" cy="1956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3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32700" y="1543050"/>
            <a:ext cx="3397150" cy="1956196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6"/>
          <p:cNvSpPr txBox="1"/>
          <p:nvPr/>
        </p:nvSpPr>
        <p:spPr>
          <a:xfrm>
            <a:off x="1057275" y="1838325"/>
            <a:ext cx="294693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Space-Between</a:t>
            </a:r>
            <a:endParaRPr/>
          </a:p>
        </p:txBody>
      </p:sp>
      <p:sp>
        <p:nvSpPr>
          <p:cNvPr id="389" name="Google Shape;389;p36"/>
          <p:cNvSpPr txBox="1"/>
          <p:nvPr/>
        </p:nvSpPr>
        <p:spPr>
          <a:xfrm>
            <a:off x="1057275" y="2324100"/>
            <a:ext cx="28066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Item kumpul di pojok-pojok, tengahnya dikosongin.</a:t>
            </a:r>
            <a:endParaRPr/>
          </a:p>
        </p:txBody>
      </p:sp>
      <p:sp>
        <p:nvSpPr>
          <p:cNvPr id="390" name="Google Shape;390;p36"/>
          <p:cNvSpPr txBox="1"/>
          <p:nvPr/>
        </p:nvSpPr>
        <p:spPr>
          <a:xfrm>
            <a:off x="4692550" y="1838325"/>
            <a:ext cx="29470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Align-Items: Center</a:t>
            </a:r>
            <a:endParaRPr/>
          </a:p>
        </p:txBody>
      </p:sp>
      <p:sp>
        <p:nvSpPr>
          <p:cNvPr id="391" name="Google Shape;391;p36"/>
          <p:cNvSpPr txBox="1"/>
          <p:nvPr/>
        </p:nvSpPr>
        <p:spPr>
          <a:xfrm>
            <a:off x="4692550" y="2324100"/>
            <a:ext cx="2806749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Meratakan tinggi item agar sejajar secara vertikal.</a:t>
            </a:r>
            <a:endParaRPr/>
          </a:p>
        </p:txBody>
      </p:sp>
      <p:sp>
        <p:nvSpPr>
          <p:cNvPr id="392" name="Google Shape;392;p36"/>
          <p:cNvSpPr txBox="1"/>
          <p:nvPr/>
        </p:nvSpPr>
        <p:spPr>
          <a:xfrm>
            <a:off x="8327975" y="1838325"/>
            <a:ext cx="294693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Flex-End</a:t>
            </a:r>
            <a:endParaRPr/>
          </a:p>
        </p:txBody>
      </p:sp>
      <p:sp>
        <p:nvSpPr>
          <p:cNvPr id="393" name="Google Shape;393;p36"/>
          <p:cNvSpPr txBox="1"/>
          <p:nvPr/>
        </p:nvSpPr>
        <p:spPr>
          <a:xfrm>
            <a:off x="8327975" y="2324100"/>
            <a:ext cx="28066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Pindahkan semua item agar kumpul di bagian akhir.</a:t>
            </a:r>
            <a:endParaRPr/>
          </a:p>
        </p:txBody>
      </p:sp>
      <p:sp>
        <p:nvSpPr>
          <p:cNvPr id="394" name="Google Shape;394;p36"/>
          <p:cNvSpPr txBox="1"/>
          <p:nvPr/>
        </p:nvSpPr>
        <p:spPr>
          <a:xfrm>
            <a:off x="1000125" y="571500"/>
            <a:ext cx="1095136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Pengaturan Baris Flexbox</a:t>
            </a:r>
            <a:endParaRPr/>
          </a:p>
        </p:txBody>
      </p:sp>
      <p:sp>
        <p:nvSpPr>
          <p:cNvPr id="395" name="Google Shape;395;p36"/>
          <p:cNvSpPr/>
          <p:nvPr/>
        </p:nvSpPr>
        <p:spPr>
          <a:xfrm>
            <a:off x="762000" y="571500"/>
            <a:ext cx="114300" cy="685800"/>
          </a:xfrm>
          <a:prstGeom prst="rect">
            <a:avLst/>
          </a:prstGeom>
          <a:solidFill>
            <a:srgbClr val="AD14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4EC"/>
        </a:solidFill>
        <a:effectLst/>
      </p:bgPr>
    </p:bg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7"/>
          <p:cNvSpPr txBox="1"/>
          <p:nvPr/>
        </p:nvSpPr>
        <p:spPr>
          <a:xfrm>
            <a:off x="762000" y="1752600"/>
            <a:ext cx="5048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Layout Baris DAN Kolom sekaligus. Bayangkan papan catur untuk kerangka web kamu.</a:t>
            </a:r>
            <a:endParaRPr/>
          </a:p>
        </p:txBody>
      </p:sp>
      <p:pic>
        <p:nvPicPr>
          <p:cNvPr id="402" name="Google Shape;402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77025" y="1838325"/>
            <a:ext cx="44577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37"/>
          <p:cNvSpPr txBox="1"/>
          <p:nvPr/>
        </p:nvSpPr>
        <p:spPr>
          <a:xfrm>
            <a:off x="6677025" y="2476500"/>
            <a:ext cx="44577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Paling pas untuk membuat layout halaman utama yang rumit (Berita, Dashboard, Galeri).</a:t>
            </a:r>
            <a:endParaRPr/>
          </a:p>
        </p:txBody>
      </p:sp>
      <p:sp>
        <p:nvSpPr>
          <p:cNvPr id="404" name="Google Shape;404;p37"/>
          <p:cNvSpPr txBox="1"/>
          <p:nvPr/>
        </p:nvSpPr>
        <p:spPr>
          <a:xfrm>
            <a:off x="1000125" y="571500"/>
            <a:ext cx="1095136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CSS Grid (Sistem 2 Dimensi)</a:t>
            </a:r>
            <a:endParaRPr/>
          </a:p>
        </p:txBody>
      </p:sp>
      <p:sp>
        <p:nvSpPr>
          <p:cNvPr id="405" name="Google Shape;405;p37"/>
          <p:cNvSpPr/>
          <p:nvPr/>
        </p:nvSpPr>
        <p:spPr>
          <a:xfrm>
            <a:off x="762000" y="571500"/>
            <a:ext cx="114300" cy="685800"/>
          </a:xfrm>
          <a:prstGeom prst="rect">
            <a:avLst/>
          </a:prstGeom>
          <a:solidFill>
            <a:srgbClr val="AD14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4EC"/>
        </a:solid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8"/>
          <p:cNvSpPr txBox="1"/>
          <p:nvPr/>
        </p:nvSpPr>
        <p:spPr>
          <a:xfrm>
            <a:off x="762000" y="3733800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Kode ini bagi layar jadi 3 kolom sama lebar. </a:t>
            </a:r>
            <a:r>
              <a:rPr lang="en-US" sz="1650" b="1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Gap</a:t>
            </a: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 memberikan jarak antar kotak agar tidak berdempetan.</a:t>
            </a:r>
            <a:endParaRPr/>
          </a:p>
        </p:txBody>
      </p:sp>
      <p:sp>
        <p:nvSpPr>
          <p:cNvPr id="412" name="Google Shape;412;p38"/>
          <p:cNvSpPr txBox="1"/>
          <p:nvPr/>
        </p:nvSpPr>
        <p:spPr>
          <a:xfrm>
            <a:off x="1000125" y="571500"/>
            <a:ext cx="1095136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Membagi Kolom Grid</a:t>
            </a:r>
            <a:endParaRPr/>
          </a:p>
        </p:txBody>
      </p:sp>
      <p:sp>
        <p:nvSpPr>
          <p:cNvPr id="413" name="Google Shape;413;p38"/>
          <p:cNvSpPr/>
          <p:nvPr/>
        </p:nvSpPr>
        <p:spPr>
          <a:xfrm>
            <a:off x="762000" y="571500"/>
            <a:ext cx="114300" cy="685800"/>
          </a:xfrm>
          <a:prstGeom prst="rect">
            <a:avLst/>
          </a:prstGeom>
          <a:solidFill>
            <a:srgbClr val="AD14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4EC"/>
        </a:solid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9"/>
          <p:cNvSpPr txBox="1"/>
          <p:nvPr/>
        </p:nvSpPr>
        <p:spPr>
          <a:xfrm>
            <a:off x="762000" y="2743200"/>
            <a:ext cx="10668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Grid memungkinkan kita memberi nama bagian (Header, Footer, dll), sehingga struktur kode jadi sangat mudah dibaca manusia.</a:t>
            </a:r>
            <a:endParaRPr/>
          </a:p>
        </p:txBody>
      </p:sp>
      <p:sp>
        <p:nvSpPr>
          <p:cNvPr id="420" name="Google Shape;420;p39"/>
          <p:cNvSpPr txBox="1"/>
          <p:nvPr/>
        </p:nvSpPr>
        <p:spPr>
          <a:xfrm>
            <a:off x="1000125" y="571500"/>
            <a:ext cx="1095136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Grid Area (Penamaan)</a:t>
            </a:r>
            <a:endParaRPr/>
          </a:p>
        </p:txBody>
      </p:sp>
      <p:sp>
        <p:nvSpPr>
          <p:cNvPr id="421" name="Google Shape;421;p39"/>
          <p:cNvSpPr/>
          <p:nvPr/>
        </p:nvSpPr>
        <p:spPr>
          <a:xfrm>
            <a:off x="762000" y="571500"/>
            <a:ext cx="114300" cy="685800"/>
          </a:xfrm>
          <a:prstGeom prst="rect">
            <a:avLst/>
          </a:prstGeom>
          <a:solidFill>
            <a:srgbClr val="AD14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4EC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" name="Google Shape;426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543050"/>
            <a:ext cx="5048250" cy="1956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4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543050"/>
            <a:ext cx="5048250" cy="1956196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40"/>
          <p:cNvSpPr txBox="1"/>
          <p:nvPr/>
        </p:nvSpPr>
        <p:spPr>
          <a:xfrm>
            <a:off x="1057275" y="1838325"/>
            <a:ext cx="468058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Gunakan Flexbox</a:t>
            </a:r>
            <a:endParaRPr/>
          </a:p>
        </p:txBody>
      </p:sp>
      <p:sp>
        <p:nvSpPr>
          <p:cNvPr id="430" name="Google Shape;430;p40"/>
          <p:cNvSpPr txBox="1"/>
          <p:nvPr/>
        </p:nvSpPr>
        <p:spPr>
          <a:xfrm>
            <a:off x="1057275" y="2324100"/>
            <a:ext cx="44577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Untuk komponen kecil 1 arah (Barisan tombol, icon profil, menu samping).</a:t>
            </a:r>
            <a:endParaRPr/>
          </a:p>
        </p:txBody>
      </p:sp>
      <p:sp>
        <p:nvSpPr>
          <p:cNvPr id="431" name="Google Shape;431;p40"/>
          <p:cNvSpPr txBox="1"/>
          <p:nvPr/>
        </p:nvSpPr>
        <p:spPr>
          <a:xfrm>
            <a:off x="6677025" y="1838325"/>
            <a:ext cx="468058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Gunakan Grid</a:t>
            </a:r>
            <a:endParaRPr/>
          </a:p>
        </p:txBody>
      </p:sp>
      <p:sp>
        <p:nvSpPr>
          <p:cNvPr id="432" name="Google Shape;432;p40"/>
          <p:cNvSpPr txBox="1"/>
          <p:nvPr/>
        </p:nvSpPr>
        <p:spPr>
          <a:xfrm>
            <a:off x="6677025" y="2324100"/>
            <a:ext cx="44577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Untuk kerangka besar web 2 arah (Susunan berita, header-main-footer).</a:t>
            </a:r>
            <a:endParaRPr/>
          </a:p>
        </p:txBody>
      </p:sp>
      <p:sp>
        <p:nvSpPr>
          <p:cNvPr id="433" name="Google Shape;433;p40"/>
          <p:cNvSpPr txBox="1"/>
          <p:nvPr/>
        </p:nvSpPr>
        <p:spPr>
          <a:xfrm>
            <a:off x="1000125" y="571500"/>
            <a:ext cx="1095136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Flexbox vs CSS Grid</a:t>
            </a:r>
            <a:endParaRPr/>
          </a:p>
        </p:txBody>
      </p:sp>
      <p:sp>
        <p:nvSpPr>
          <p:cNvPr id="434" name="Google Shape;434;p40"/>
          <p:cNvSpPr/>
          <p:nvPr/>
        </p:nvSpPr>
        <p:spPr>
          <a:xfrm>
            <a:off x="762000" y="571500"/>
            <a:ext cx="114300" cy="685800"/>
          </a:xfrm>
          <a:prstGeom prst="rect">
            <a:avLst/>
          </a:prstGeom>
          <a:solidFill>
            <a:srgbClr val="AD14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4EC"/>
        </a:solidFill>
        <a:effectLst/>
      </p:bgPr>
    </p:bg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41"/>
          <p:cNvSpPr txBox="1"/>
          <p:nvPr/>
        </p:nvSpPr>
        <p:spPr>
          <a:xfrm>
            <a:off x="762000" y="1752600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Website harus bisa menyesuaikan diri dengan layar HP atau Laptop lewat </a:t>
            </a:r>
            <a:r>
              <a:rPr lang="en-US" sz="1650" b="1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Media Query</a:t>
            </a: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441" name="Google Shape;441;p41"/>
          <p:cNvSpPr txBox="1"/>
          <p:nvPr/>
        </p:nvSpPr>
        <p:spPr>
          <a:xfrm>
            <a:off x="762000" y="3992760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044E"/>
                </a:solidFill>
                <a:latin typeface="Lato"/>
                <a:ea typeface="Lato"/>
                <a:cs typeface="Lato"/>
                <a:sym typeface="Lato"/>
              </a:rPr>
              <a:t>Bikin menu yang tadinya ke samping otomatis menumpuk ke bawah saat dibuka di smartphone.</a:t>
            </a:r>
            <a:endParaRPr/>
          </a:p>
        </p:txBody>
      </p:sp>
      <p:sp>
        <p:nvSpPr>
          <p:cNvPr id="442" name="Google Shape;442;p41"/>
          <p:cNvSpPr txBox="1"/>
          <p:nvPr/>
        </p:nvSpPr>
        <p:spPr>
          <a:xfrm>
            <a:off x="1000125" y="571500"/>
            <a:ext cx="1095136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880E4F"/>
                </a:solidFill>
                <a:latin typeface="Poppins"/>
                <a:ea typeface="Poppins"/>
                <a:cs typeface="Poppins"/>
                <a:sym typeface="Poppins"/>
              </a:rPr>
              <a:t>Responsivitas (Media Query)</a:t>
            </a:r>
            <a:endParaRPr/>
          </a:p>
        </p:txBody>
      </p:sp>
      <p:sp>
        <p:nvSpPr>
          <p:cNvPr id="443" name="Google Shape;443;p41"/>
          <p:cNvSpPr/>
          <p:nvPr/>
        </p:nvSpPr>
        <p:spPr>
          <a:xfrm>
            <a:off x="762000" y="571500"/>
            <a:ext cx="114300" cy="685800"/>
          </a:xfrm>
          <a:prstGeom prst="rect">
            <a:avLst/>
          </a:prstGeom>
          <a:solidFill>
            <a:srgbClr val="AD14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4EC"/>
        </a:solidFill>
        <a:effectLst/>
      </p:bgPr>
    </p:bg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42"/>
          <p:cNvSpPr txBox="1"/>
          <p:nvPr/>
        </p:nvSpPr>
        <p:spPr>
          <a:xfrm>
            <a:off x="495300" y="2714625"/>
            <a:ext cx="1120140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>
                <a:solidFill>
                  <a:srgbClr val="880E4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Terima Kasih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1046</Words>
  <Application>Microsoft Office PowerPoint</Application>
  <PresentationFormat>Widescreen</PresentationFormat>
  <Paragraphs>138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Lato</vt:lpstr>
      <vt:lpstr>Courier New</vt:lpstr>
      <vt:lpstr>Arial</vt:lpstr>
      <vt:lpstr>Poppins</vt:lpstr>
      <vt:lpstr>Poppins ExtraBold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Laerra Shaqin Zahna</cp:lastModifiedBy>
  <cp:revision>1</cp:revision>
  <dcterms:modified xsi:type="dcterms:W3CDTF">2026-04-30T12:46:37Z</dcterms:modified>
</cp:coreProperties>
</file>